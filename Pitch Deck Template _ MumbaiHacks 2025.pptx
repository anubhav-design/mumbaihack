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33851-96EA-41D6-AE02-09A525B07125}">
  <a:tblStyle styleId="{17733851-96EA-41D6-AE02-09A525B071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99df10e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99df10e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99df10e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99df10e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99df10e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a99df10e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99df10e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99df10e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99df10e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99df10e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99df10e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a99df10e2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99df10e2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a99df10e2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99df10e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99df10e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99df10e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99df10e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99df10e2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a99df10e2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CC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98750" y="744575"/>
            <a:ext cx="5982000" cy="14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Pitch Deck Template</a:t>
            </a:r>
            <a:endParaRPr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98750" y="2355650"/>
            <a:ext cx="5899800" cy="14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Inter Medium"/>
              <a:buChar char="●"/>
            </a:pPr>
            <a:r>
              <a:rPr lang="en-GB" sz="1400">
                <a:solidFill>
                  <a:srgbClr val="990000"/>
                </a:solidFill>
                <a:latin typeface="Inter Medium"/>
                <a:ea typeface="Inter Medium"/>
                <a:cs typeface="Inter Medium"/>
                <a:sym typeface="Inter Medium"/>
              </a:rPr>
              <a:t>Make a copy of this deck. </a:t>
            </a:r>
            <a:endParaRPr sz="1400">
              <a:solidFill>
                <a:srgbClr val="99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Inter Medium"/>
              <a:buChar char="●"/>
            </a:pPr>
            <a:r>
              <a:rPr lang="en-GB" sz="1400">
                <a:solidFill>
                  <a:srgbClr val="990000"/>
                </a:solidFill>
                <a:latin typeface="Inter Medium"/>
                <a:ea typeface="Inter Medium"/>
                <a:cs typeface="Inter Medium"/>
                <a:sym typeface="Inter Medium"/>
              </a:rPr>
              <a:t>Do NOT add or remove any slides</a:t>
            </a:r>
            <a:endParaRPr sz="1400">
              <a:solidFill>
                <a:srgbClr val="99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Inter Medium"/>
              <a:buChar char="●"/>
            </a:pPr>
            <a:r>
              <a:rPr lang="en-GB" sz="1400">
                <a:solidFill>
                  <a:srgbClr val="990000"/>
                </a:solidFill>
                <a:latin typeface="Inter Medium"/>
                <a:ea typeface="Inter Medium"/>
                <a:cs typeface="Inter Medium"/>
                <a:sym typeface="Inter Medium"/>
              </a:rPr>
              <a:t>Don’t forget to click on ‘Share’ and set ‘General Access’ to </a:t>
            </a:r>
            <a:r>
              <a:rPr lang="en-GB" sz="1400" b="1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anyone with the link can view</a:t>
            </a:r>
            <a:endParaRPr sz="1400" b="1">
              <a:solidFill>
                <a:srgbClr val="99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76539" y="841862"/>
            <a:ext cx="7834489" cy="14906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Sign-to-Speech Technology</a:t>
            </a:r>
            <a:endParaRPr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11700" y="2677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Team:-</a:t>
            </a:r>
            <a:r>
              <a:rPr lang="en-GB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Futureforge</a:t>
            </a: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031846290"/>
              </p:ext>
            </p:extLst>
          </p:nvPr>
        </p:nvGraphicFramePr>
        <p:xfrm>
          <a:off x="952500" y="4302575"/>
          <a:ext cx="7239000" cy="335250"/>
        </p:xfrm>
        <a:graphic>
          <a:graphicData uri="http://schemas.openxmlformats.org/drawingml/2006/table">
            <a:tbl>
              <a:tblPr>
                <a:noFill/>
                <a:tableStyleId>{17733851-96EA-41D6-AE02-09A525B07125}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Anubhav Gupta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Abhinash Ray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Ayush Agarwal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 Member Name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418900" y="135315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Inter"/>
                <a:ea typeface="Inter"/>
                <a:cs typeface="Inter"/>
                <a:sym typeface="Inter"/>
              </a:rPr>
              <a:t>A picture of your team!</a:t>
            </a:r>
            <a:endParaRPr sz="1800"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group of people sitting at a table">
            <a:extLst>
              <a:ext uri="{FF2B5EF4-FFF2-40B4-BE49-F238E27FC236}">
                <a16:creationId xmlns:a16="http://schemas.microsoft.com/office/drawing/2014/main" id="{16C4CADA-EC3B-8215-D40D-512B6E907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438" y="775450"/>
            <a:ext cx="4888089" cy="3291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sz="3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1004512" y="188395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2500"/>
              </a:spcBef>
            </a:pPr>
            <a:r>
              <a:rPr lang="en-US" sz="1050" b="1" dirty="0">
                <a:solidFill>
                  <a:schemeClr val="bg1"/>
                </a:solidFill>
              </a:rPr>
              <a:t>Technology Overview</a:t>
            </a:r>
          </a:p>
          <a:p>
            <a:pPr marL="0" lvl="1" indent="0"/>
            <a:r>
              <a:rPr lang="en-US" sz="1050" dirty="0">
                <a:solidFill>
                  <a:schemeClr val="bg1"/>
                </a:solidFill>
              </a:rPr>
              <a:t>Sign-to-Speech uses AI, computer vision, and NLP to convert sign language gestures into spoken words.</a:t>
            </a:r>
          </a:p>
          <a:p>
            <a:pPr marL="0" indent="0">
              <a:spcBef>
                <a:spcPts val="2500"/>
              </a:spcBef>
            </a:pPr>
            <a:r>
              <a:rPr lang="en-US" sz="1050" b="1" dirty="0">
                <a:solidFill>
                  <a:schemeClr val="bg1"/>
                </a:solidFill>
              </a:rPr>
              <a:t>Real-Time Interaction</a:t>
            </a:r>
          </a:p>
          <a:p>
            <a:pPr marL="0" lvl="1" indent="0"/>
            <a:r>
              <a:rPr lang="en-US" sz="1050" dirty="0">
                <a:solidFill>
                  <a:schemeClr val="bg1"/>
                </a:solidFill>
              </a:rPr>
              <a:t>This technology enables seamless real-time communication between sign language users and speakers.</a:t>
            </a:r>
          </a:p>
          <a:p>
            <a:pPr marL="0" indent="0">
              <a:spcBef>
                <a:spcPts val="2500"/>
              </a:spcBef>
            </a:pPr>
            <a:r>
              <a:rPr lang="en-US" sz="1050" b="1" dirty="0">
                <a:solidFill>
                  <a:schemeClr val="bg1"/>
                </a:solidFill>
              </a:rPr>
              <a:t>Inclusivity and Empowerment</a:t>
            </a:r>
          </a:p>
          <a:p>
            <a:pPr marL="0" lvl="1" indent="0"/>
            <a:r>
              <a:rPr lang="en-US" sz="1050" dirty="0">
                <a:solidFill>
                  <a:schemeClr val="bg1"/>
                </a:solidFill>
              </a:rPr>
              <a:t>Sign-to-Speech empowers hearing or speech-impaired individuals to engage fully in social and professional settings.</a:t>
            </a:r>
          </a:p>
          <a:p>
            <a:pPr marL="0" indent="0">
              <a:spcBef>
                <a:spcPts val="2500"/>
              </a:spcBef>
            </a:pPr>
            <a:r>
              <a:rPr lang="en-US" sz="1050" b="1" dirty="0">
                <a:solidFill>
                  <a:schemeClr val="bg1"/>
                </a:solidFill>
              </a:rPr>
              <a:t>Technical Process</a:t>
            </a:r>
          </a:p>
          <a:p>
            <a:pPr marL="0" lvl="1" indent="0"/>
            <a:r>
              <a:rPr lang="en-US" sz="1050" dirty="0">
                <a:solidFill>
                  <a:schemeClr val="bg1"/>
                </a:solidFill>
              </a:rPr>
              <a:t>The system captures gestures via cameras, processes them with machine learning, and generates spoken output.</a:t>
            </a: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28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1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indent="0">
              <a:spcBef>
                <a:spcPts val="2500"/>
              </a:spcBef>
            </a:pPr>
            <a:r>
              <a:rPr lang="en-US" sz="4800" b="1" dirty="0">
                <a:solidFill>
                  <a:schemeClr val="bg1"/>
                </a:solidFill>
              </a:rPr>
              <a:t>Gesture Recognition</a:t>
            </a:r>
          </a:p>
          <a:p>
            <a:pPr marL="0" lvl="1" indent="0"/>
            <a:r>
              <a:rPr lang="en-US" sz="4800" dirty="0">
                <a:solidFill>
                  <a:schemeClr val="bg1"/>
                </a:solidFill>
              </a:rPr>
              <a:t>Cameras and wearable sensors capture hand movements, facial expressions, and body posture for sign detection.</a:t>
            </a:r>
          </a:p>
          <a:p>
            <a:pPr marL="0" indent="0">
              <a:spcBef>
                <a:spcPts val="2500"/>
              </a:spcBef>
            </a:pPr>
            <a:r>
              <a:rPr lang="en-US" sz="4800" b="1" dirty="0">
                <a:solidFill>
                  <a:schemeClr val="bg1"/>
                </a:solidFill>
              </a:rPr>
              <a:t>Machine Learning Interpretation</a:t>
            </a:r>
          </a:p>
          <a:p>
            <a:pPr marL="0" lvl="1" indent="0"/>
            <a:r>
              <a:rPr lang="en-US" sz="4800" dirty="0">
                <a:solidFill>
                  <a:schemeClr val="bg1"/>
                </a:solidFill>
              </a:rPr>
              <a:t>Machine learning models map recognized gestures to words or phrases in spoken language.</a:t>
            </a:r>
          </a:p>
          <a:p>
            <a:pPr marL="0" indent="0">
              <a:spcBef>
                <a:spcPts val="2500"/>
              </a:spcBef>
            </a:pPr>
            <a:r>
              <a:rPr lang="en-US" sz="4800" b="1" dirty="0">
                <a:solidFill>
                  <a:schemeClr val="bg1"/>
                </a:solidFill>
              </a:rPr>
              <a:t>Natural Language Processing</a:t>
            </a:r>
          </a:p>
          <a:p>
            <a:pPr marL="0" lvl="1" indent="0"/>
            <a:r>
              <a:rPr lang="en-US" sz="4800" dirty="0">
                <a:solidFill>
                  <a:schemeClr val="bg1"/>
                </a:solidFill>
              </a:rPr>
              <a:t>Ensures grammatical accuracy and contextual relevance in the translated text output.</a:t>
            </a:r>
          </a:p>
          <a:p>
            <a:pPr marL="0" indent="0">
              <a:spcBef>
                <a:spcPts val="2500"/>
              </a:spcBef>
            </a:pPr>
            <a:r>
              <a:rPr lang="en-US" sz="4800" b="1" dirty="0">
                <a:solidFill>
                  <a:schemeClr val="bg1"/>
                </a:solidFill>
              </a:rPr>
              <a:t>Speech Synthesis</a:t>
            </a:r>
          </a:p>
          <a:p>
            <a:pPr marL="0" lvl="1" indent="0"/>
            <a:r>
              <a:rPr lang="en-US" sz="4800" dirty="0">
                <a:solidFill>
                  <a:schemeClr val="bg1"/>
                </a:solidFill>
              </a:rPr>
              <a:t>Converts interpreted text into audible speech, completing the communication loop in real-time.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1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EC8808-717B-1A64-D0E5-8C59C8D8D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311" y="565856"/>
            <a:ext cx="4152517" cy="3925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2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28A551-8B15-9ADD-8BA6-8E6422B75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775" y="612781"/>
            <a:ext cx="5886450" cy="38320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3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F74D5C-9EBE-E6AF-8388-CD8BA86E9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438" y="573462"/>
            <a:ext cx="5857875" cy="3996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16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>
            <a:off x="258234" y="497225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Business Model</a:t>
            </a:r>
            <a:endParaRPr sz="3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699710" y="1665518"/>
            <a:ext cx="8444289" cy="72640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Revenue Streams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a) Subscription Model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₹199–₹499/month</a:t>
            </a:r>
            <a:r>
              <a:rPr lang="en-US" sz="1600" dirty="0">
                <a:solidFill>
                  <a:schemeClr val="bg1"/>
                </a:solidFill>
              </a:rPr>
              <a:t> for individual users</a:t>
            </a:r>
          </a:p>
          <a:p>
            <a:r>
              <a:rPr lang="en-US" sz="1600" dirty="0">
                <a:solidFill>
                  <a:schemeClr val="bg1"/>
                </a:solidFill>
              </a:rPr>
              <a:t>Premium voice packs, unlimited translations, offline mode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b) Institutional Licenses</a:t>
            </a:r>
          </a:p>
          <a:p>
            <a:r>
              <a:rPr lang="en-US" sz="1600" dirty="0">
                <a:solidFill>
                  <a:schemeClr val="bg1"/>
                </a:solidFill>
              </a:rPr>
              <a:t>Schools / hospitals / companies: </a:t>
            </a:r>
            <a:r>
              <a:rPr lang="en-US" sz="1600" b="1" dirty="0">
                <a:solidFill>
                  <a:schemeClr val="bg1"/>
                </a:solidFill>
              </a:rPr>
              <a:t>₹20,000–₹1,50,000 per year</a:t>
            </a:r>
            <a:r>
              <a:rPr lang="en-US" sz="1600" dirty="0">
                <a:solidFill>
                  <a:schemeClr val="bg1"/>
                </a:solidFill>
              </a:rPr>
              <a:t> depending on size</a:t>
            </a:r>
          </a:p>
          <a:p>
            <a:r>
              <a:rPr lang="en-US" sz="1600" dirty="0">
                <a:solidFill>
                  <a:schemeClr val="bg1"/>
                </a:solidFill>
              </a:rPr>
              <a:t>Training + admin dashboard included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c) API / SaaS Integration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API billed </a:t>
            </a:r>
            <a:r>
              <a:rPr lang="en-US" sz="1600" b="1" dirty="0">
                <a:solidFill>
                  <a:schemeClr val="bg1"/>
                </a:solidFill>
              </a:rPr>
              <a:t>per 1,000 translations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Integration for EdTech apps, telemedicine, help centers</a:t>
            </a:r>
          </a:p>
          <a:p>
            <a:endParaRPr lang="en-US" sz="1400" dirty="0"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Anything else?</a:t>
            </a:r>
            <a:endParaRPr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1"/>
          </p:nvPr>
        </p:nvSpPr>
        <p:spPr>
          <a:xfrm>
            <a:off x="812600" y="188395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indent="0">
              <a:spcBef>
                <a:spcPts val="2500"/>
              </a:spcBef>
            </a:pPr>
            <a:r>
              <a:rPr lang="en-US" sz="4800" b="1" dirty="0">
                <a:solidFill>
                  <a:schemeClr val="bg1"/>
                </a:solidFill>
              </a:rPr>
              <a:t>Immersive AR and VR Integration</a:t>
            </a:r>
          </a:p>
          <a:p>
            <a:pPr marL="0" lvl="1" indent="0"/>
            <a:r>
              <a:rPr lang="en-US" sz="4800" dirty="0">
                <a:solidFill>
                  <a:schemeClr val="bg1"/>
                </a:solidFill>
              </a:rPr>
              <a:t>Integrating Sign-to-Speech with AR and VR creates immersive, seamless communication in virtual environments.</a:t>
            </a:r>
          </a:p>
          <a:p>
            <a:pPr marL="0" indent="0">
              <a:spcBef>
                <a:spcPts val="2500"/>
              </a:spcBef>
            </a:pPr>
            <a:r>
              <a:rPr lang="en-US" sz="4800" b="1" dirty="0">
                <a:solidFill>
                  <a:schemeClr val="bg1"/>
                </a:solidFill>
              </a:rPr>
              <a:t>Multilingual Sign Translation</a:t>
            </a:r>
          </a:p>
          <a:p>
            <a:pPr marL="0" lvl="1" indent="0"/>
            <a:r>
              <a:rPr lang="en-US" sz="4800" dirty="0">
                <a:solidFill>
                  <a:schemeClr val="bg1"/>
                </a:solidFill>
              </a:rPr>
              <a:t>Future systems will translate sign language into multiple spoken languages for broader global use.</a:t>
            </a:r>
          </a:p>
          <a:p>
            <a:pPr marL="0" indent="0">
              <a:spcBef>
                <a:spcPts val="2500"/>
              </a:spcBef>
            </a:pPr>
            <a:r>
              <a:rPr lang="en-US" sz="4800" b="1" dirty="0">
                <a:solidFill>
                  <a:schemeClr val="bg1"/>
                </a:solidFill>
              </a:rPr>
              <a:t>Wearable Technology Advances</a:t>
            </a:r>
          </a:p>
          <a:p>
            <a:pPr marL="0" lvl="1" indent="0"/>
            <a:r>
              <a:rPr lang="en-US" sz="4800" dirty="0">
                <a:solidFill>
                  <a:schemeClr val="bg1"/>
                </a:solidFill>
              </a:rPr>
              <a:t>Smart gloves and AR glasses will enhance portability and affordability of Sign-to-Speech devices.</a:t>
            </a:r>
          </a:p>
          <a:p>
            <a:pPr marL="0" indent="0">
              <a:spcBef>
                <a:spcPts val="2500"/>
              </a:spcBef>
            </a:pPr>
            <a:r>
              <a:rPr lang="en-US" sz="4800" b="1" dirty="0">
                <a:solidFill>
                  <a:schemeClr val="bg1"/>
                </a:solidFill>
              </a:rPr>
              <a:t>AI Accuracy and Adaptability</a:t>
            </a:r>
          </a:p>
          <a:p>
            <a:pPr marL="0" lvl="1" indent="0"/>
            <a:r>
              <a:rPr lang="en-US" sz="4800" dirty="0">
                <a:solidFill>
                  <a:schemeClr val="bg1"/>
                </a:solidFill>
              </a:rPr>
              <a:t>Improved AI algorithms will boost accuracy and adaptability in diverse and challenging environments.</a:t>
            </a:r>
            <a:endParaRPr sz="2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3"/>
          <p:cNvSpPr txBox="1">
            <a:spLocks noGrp="1"/>
          </p:cNvSpPr>
          <p:nvPr>
            <p:ph type="subTitle" idx="1"/>
          </p:nvPr>
        </p:nvSpPr>
        <p:spPr>
          <a:xfrm>
            <a:off x="311700" y="2677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One line about your favorite 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part of MumbaiHacks 2025!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368</Words>
  <Application>Microsoft Office PowerPoint</Application>
  <PresentationFormat>On-screen Show (16:9)</PresentationFormat>
  <Paragraphs>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Inter Medium</vt:lpstr>
      <vt:lpstr>Arial</vt:lpstr>
      <vt:lpstr>Inter</vt:lpstr>
      <vt:lpstr>Simple Light</vt:lpstr>
      <vt:lpstr>Pitch Deck Template</vt:lpstr>
      <vt:lpstr>Sign-to-Speech Technology</vt:lpstr>
      <vt:lpstr>PowerPoint Presentation</vt:lpstr>
      <vt:lpstr>Problem Statement</vt:lpstr>
      <vt:lpstr>Solution</vt:lpstr>
      <vt:lpstr>PowerPoint Presentation</vt:lpstr>
      <vt:lpstr>PowerPoint Presentation</vt:lpstr>
      <vt:lpstr>PowerPoint Presentation</vt:lpstr>
      <vt:lpstr>Business Model</vt:lpstr>
      <vt:lpstr>Anything else?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k29265</cp:lastModifiedBy>
  <cp:revision>5</cp:revision>
  <dcterms:modified xsi:type="dcterms:W3CDTF">2025-11-29T05:08:15Z</dcterms:modified>
</cp:coreProperties>
</file>